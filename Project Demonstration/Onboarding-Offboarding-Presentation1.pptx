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234440"/>
            <a:ext cx="822960" cy="73152"/>
          </a:xfrm>
          <a:prstGeom prst="rect">
            <a:avLst/>
          </a:prstGeom>
          <a:solidFill>
            <a:srgbClr val="1A9E8F"/>
          </a:solidFill>
          <a:ln w="12700">
            <a:solidFill>
              <a:srgbClr val="1A9E8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41732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Employee Onboarding &amp; Offboarding System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8346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6E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ServiceNow Low-Code Automation Project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6576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</a:t>
            </a:r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Kandula Uma Maheshwari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Platform: </a:t>
            </a:r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B2540"/>
          </a:solidFill>
          <a:ln w="12700">
            <a:solidFill>
              <a:srgbClr val="0B25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1A9E8F"/>
          </a:solidFill>
          <a:ln w="12700">
            <a:solidFill>
              <a:srgbClr val="1A9E8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Statement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98448"/>
            <a:ext cx="64008" cy="786384"/>
          </a:xfrm>
          <a:prstGeom prst="rect">
            <a:avLst/>
          </a:prstGeom>
          <a:solidFill>
            <a:srgbClr val="1A9E8F"/>
          </a:solidFill>
          <a:ln w="12700">
            <a:solidFill>
              <a:srgbClr val="1A9E8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28016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A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Issue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onboarding is highly manual, relying on endless email threads, spreadsheets, and verbal follow-ups.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33172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441448"/>
            <a:ext cx="64008" cy="786384"/>
          </a:xfrm>
          <a:prstGeom prst="rect">
            <a:avLst/>
          </a:prstGeom>
          <a:solidFill>
            <a:srgbClr val="1A9E8F"/>
          </a:solidFill>
          <a:ln w="12700">
            <a:solidFill>
              <a:srgbClr val="1A9E8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242316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A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Impact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Causes delays, missed tasks across IT/Facilities/Security, and a poor first-day experience for new hires.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47472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584448"/>
            <a:ext cx="64008" cy="786384"/>
          </a:xfrm>
          <a:prstGeom prst="rect">
            <a:avLst/>
          </a:prstGeom>
          <a:solidFill>
            <a:srgbClr val="1A9E8F"/>
          </a:solidFill>
          <a:ln w="12700">
            <a:solidFill>
              <a:srgbClr val="1A9E8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356616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A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onboarding time from days to hours while maintaining complete audit visibility and role-based data security.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B2540"/>
          </a:solidFill>
          <a:ln w="12700">
            <a:solidFill>
              <a:srgbClr val="0B25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1A9E8F"/>
          </a:solidFill>
          <a:ln w="12700">
            <a:solidFill>
              <a:srgbClr val="1A9E8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 &amp; Architecture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D6EFEB"/>
          </a:solidFill>
          <a:ln w="12700">
            <a:solidFill>
              <a:srgbClr val="D6EFE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14300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</a:t>
            </a:r>
            <a:pPr indent="0" marL="0">
              <a:buNone/>
            </a:pPr>
            <a:r>
              <a:rPr lang="en-US" sz="16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100% low-code ServiceNow application built using Flow Designer (zero custom scripts).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057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2514600"/>
            <a:ext cx="26517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624328"/>
            <a:ext cx="64008" cy="1700784"/>
          </a:xfrm>
          <a:prstGeom prst="rect">
            <a:avLst/>
          </a:prstGeom>
          <a:solidFill>
            <a:srgbClr val="1A9E8F"/>
          </a:solidFill>
          <a:ln w="12700">
            <a:solidFill>
              <a:srgbClr val="1A9E8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2606040"/>
            <a:ext cx="2286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A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Portal (Self-service intake form with 13 variables).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246120" y="2514600"/>
            <a:ext cx="26517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46120" y="2624328"/>
            <a:ext cx="64008" cy="1700784"/>
          </a:xfrm>
          <a:prstGeom prst="rect">
            <a:avLst/>
          </a:prstGeom>
          <a:solidFill>
            <a:srgbClr val="1A9E8F"/>
          </a:solidFill>
          <a:ln w="12700">
            <a:solidFill>
              <a:srgbClr val="1A9E8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474720" y="2606040"/>
            <a:ext cx="2286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A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Designer (15 automated actions handling logic).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035040" y="2514600"/>
            <a:ext cx="26517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35040" y="2624328"/>
            <a:ext cx="64008" cy="1700784"/>
          </a:xfrm>
          <a:prstGeom prst="rect">
            <a:avLst/>
          </a:prstGeom>
          <a:solidFill>
            <a:srgbClr val="1A9E8F"/>
          </a:solidFill>
          <a:ln w="12700">
            <a:solidFill>
              <a:srgbClr val="1A9E8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63640" y="2606040"/>
            <a:ext cx="2286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A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u_employee_lifecycle table for tracking.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B2540"/>
          </a:solidFill>
          <a:ln w="12700">
            <a:solidFill>
              <a:srgbClr val="0B25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1A9E8F"/>
          </a:solidFill>
          <a:ln w="12700">
            <a:solidFill>
              <a:srgbClr val="1A9E8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98448"/>
            <a:ext cx="64008" cy="1380744"/>
          </a:xfrm>
          <a:prstGeom prst="rect">
            <a:avLst/>
          </a:prstGeom>
          <a:solidFill>
            <a:srgbClr val="1A9E8F"/>
          </a:solidFill>
          <a:ln w="12700">
            <a:solidFill>
              <a:srgbClr val="1A9E8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280160"/>
            <a:ext cx="3657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A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Form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Policies automatically show/hide the "Joining Date" or "Exit Date" based on the request type.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663440" y="118872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1298448"/>
            <a:ext cx="64008" cy="1380744"/>
          </a:xfrm>
          <a:prstGeom prst="rect">
            <a:avLst/>
          </a:prstGeom>
          <a:solidFill>
            <a:srgbClr val="1A9E8F"/>
          </a:solidFill>
          <a:ln w="12700">
            <a:solidFill>
              <a:srgbClr val="1A9E8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92040" y="1280160"/>
            <a:ext cx="3657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A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Approvals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directly to the selected Manager for one-click approval.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57200" y="297180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081528"/>
            <a:ext cx="64008" cy="1380744"/>
          </a:xfrm>
          <a:prstGeom prst="rect">
            <a:avLst/>
          </a:prstGeom>
          <a:solidFill>
            <a:srgbClr val="1A9E8F"/>
          </a:solidFill>
          <a:ln w="12700">
            <a:solidFill>
              <a:srgbClr val="1A9E8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3063240"/>
            <a:ext cx="3657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A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Auto-Task Generation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creates 3 tasks for IT, Facilities, and Security upon approval.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663440" y="297180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0" y="3081528"/>
            <a:ext cx="64008" cy="1380744"/>
          </a:xfrm>
          <a:prstGeom prst="rect">
            <a:avLst/>
          </a:prstGeom>
          <a:solidFill>
            <a:srgbClr val="1A9E8F"/>
          </a:solidFill>
          <a:ln w="12700">
            <a:solidFill>
              <a:srgbClr val="1A9E8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92040" y="3063240"/>
            <a:ext cx="3657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A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every step from submission to completion using ACLs and Logs.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B2540"/>
          </a:solidFill>
          <a:ln w="12700">
            <a:solidFill>
              <a:srgbClr val="0B25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1A9E8F"/>
          </a:solidFill>
          <a:ln w="12700">
            <a:solidFill>
              <a:srgbClr val="1A9E8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Workflow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365760" cy="365760"/>
          </a:xfrm>
          <a:prstGeom prst="ellipse">
            <a:avLst/>
          </a:prstGeom>
          <a:solidFill>
            <a:srgbClr val="1A9E8F"/>
          </a:solidFill>
          <a:ln w="12700">
            <a:solidFill>
              <a:srgbClr val="1A9E8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097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097280" y="1097280"/>
            <a:ext cx="758952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23444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</a:t>
            </a:r>
            <a:pPr indent="0" marL="0">
              <a:buNone/>
            </a:pPr>
            <a:r>
              <a:rPr lang="en-US" sz="14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Item Submitted by HR.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1591056"/>
            <a:ext cx="365760" cy="365760"/>
          </a:xfrm>
          <a:prstGeom prst="ellipse">
            <a:avLst/>
          </a:prstGeom>
          <a:solidFill>
            <a:srgbClr val="1A9E8F"/>
          </a:solidFill>
          <a:ln w="12700">
            <a:solidFill>
              <a:srgbClr val="1A9E8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15910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97280" y="1591056"/>
            <a:ext cx="758952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234440" y="1591056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</a:t>
            </a:r>
            <a:pPr indent="0" marL="0">
              <a:buNone/>
            </a:pPr>
            <a:r>
              <a:rPr lang="en-US" sz="14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retrieves Catalog Variables.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2084832"/>
            <a:ext cx="365760" cy="365760"/>
          </a:xfrm>
          <a:prstGeom prst="ellipse">
            <a:avLst/>
          </a:prstGeom>
          <a:solidFill>
            <a:srgbClr val="1A9E8F"/>
          </a:solidFill>
          <a:ln w="12700">
            <a:solidFill>
              <a:srgbClr val="1A9E8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20848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097280" y="2084832"/>
            <a:ext cx="758952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234440" y="208483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</a:t>
            </a:r>
            <a:pPr indent="0" marL="0">
              <a:buNone/>
            </a:pPr>
            <a:r>
              <a:rPr lang="en-US" sz="14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Lifecycle Record (Status: New).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2578608"/>
            <a:ext cx="365760" cy="365760"/>
          </a:xfrm>
          <a:prstGeom prst="ellipse">
            <a:avLst/>
          </a:prstGeom>
          <a:solidFill>
            <a:srgbClr val="1A9E8F"/>
          </a:solidFill>
          <a:ln w="12700">
            <a:solidFill>
              <a:srgbClr val="1A9E8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25786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097280" y="2578608"/>
            <a:ext cx="758952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234440" y="257860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</a:t>
            </a:r>
            <a:pPr indent="0" marL="0">
              <a:buNone/>
            </a:pPr>
            <a:r>
              <a:rPr lang="en-US" sz="14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Manager Approval.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8640" y="3072384"/>
            <a:ext cx="365760" cy="365760"/>
          </a:xfrm>
          <a:prstGeom prst="ellipse">
            <a:avLst/>
          </a:prstGeom>
          <a:solidFill>
            <a:srgbClr val="1A9E8F"/>
          </a:solidFill>
          <a:ln w="12700">
            <a:solidFill>
              <a:srgbClr val="1A9E8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48640" y="30723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1097280" y="3072384"/>
            <a:ext cx="758952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234440" y="307238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</a:t>
            </a:r>
            <a:pPr indent="0" marL="0">
              <a:buNone/>
            </a:pPr>
            <a:r>
              <a:rPr lang="en-US" sz="14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3 Departmental Tasks (IT, Facilities, Security).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48640" y="3566160"/>
            <a:ext cx="365760" cy="365760"/>
          </a:xfrm>
          <a:prstGeom prst="ellipse">
            <a:avLst/>
          </a:prstGeom>
          <a:solidFill>
            <a:srgbClr val="1A9E8F"/>
          </a:solidFill>
          <a:ln w="12700">
            <a:solidFill>
              <a:srgbClr val="1A9E8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48640" y="3566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1097280" y="3566160"/>
            <a:ext cx="758952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234440" y="3566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</a:t>
            </a:r>
            <a:pPr indent="0" marL="0">
              <a:buNone/>
            </a:pPr>
            <a:r>
              <a:rPr lang="en-US" sz="14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Waits for all 3 tasks to be marked "Closed Complete".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48640" y="4059936"/>
            <a:ext cx="365760" cy="365760"/>
          </a:xfrm>
          <a:prstGeom prst="ellipse">
            <a:avLst/>
          </a:prstGeom>
          <a:solidFill>
            <a:srgbClr val="1A9E8F"/>
          </a:solidFill>
          <a:ln w="12700">
            <a:solidFill>
              <a:srgbClr val="1A9E8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48640" y="40599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1097280" y="4059936"/>
            <a:ext cx="758952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234440" y="4059936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</a:t>
            </a:r>
            <a:pPr indent="0" marL="0">
              <a:buNone/>
            </a:pPr>
            <a:r>
              <a:rPr lang="en-US" sz="14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Lifecycle to "Completed", closes RITM, and sends Email.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B2540"/>
          </a:solidFill>
          <a:ln w="12700">
            <a:solidFill>
              <a:srgbClr val="0B25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1A9E8F"/>
          </a:solidFill>
          <a:ln w="12700">
            <a:solidFill>
              <a:srgbClr val="1A9E8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Testing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265176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3258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A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1488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Scripts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0604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entirely using ServiceNow's native Flow Designer and ACLs.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46120" y="1188720"/>
            <a:ext cx="265176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46120" y="13258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A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3246120" y="21488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 Pass Rate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3429000" y="260604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rate across 16 User Acceptance Testing (UAT) scenarios.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35040" y="1188720"/>
            <a:ext cx="265176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035040" y="13258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A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</a:t>
            </a:r>
            <a:endParaRPr lang="en-US" sz="4400" dirty="0"/>
          </a:p>
        </p:txBody>
      </p:sp>
      <p:sp>
        <p:nvSpPr>
          <p:cNvPr id="16" name="Text 14"/>
          <p:cNvSpPr txBox="1"/>
          <p:nvPr/>
        </p:nvSpPr>
        <p:spPr>
          <a:xfrm>
            <a:off x="6035040" y="21488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260604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End-to-end automation verified successfully.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79476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0B2540"/>
          </a:solidFill>
          <a:ln w="12700">
            <a:solidFill>
              <a:srgbClr val="0B254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" y="37947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REQ0010002  →  RITM0010002  →  Completed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B2540"/>
          </a:solidFill>
          <a:ln w="12700">
            <a:solidFill>
              <a:srgbClr val="0B25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1A9E8F"/>
          </a:solidFill>
          <a:ln w="12700">
            <a:solidFill>
              <a:srgbClr val="1A9E8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 &amp; Conclusion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402336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98448"/>
            <a:ext cx="64008" cy="3072384"/>
          </a:xfrm>
          <a:prstGeom prst="rect">
            <a:avLst/>
          </a:prstGeom>
          <a:solidFill>
            <a:srgbClr val="1A9E8F"/>
          </a:solidFill>
          <a:ln w="12700">
            <a:solidFill>
              <a:srgbClr val="1A9E8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280160"/>
            <a:ext cx="3657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A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737360"/>
            <a:ext cx="3566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Directory (AD) integration for auto-provisioning.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Analytics dashboards for SLA tracking.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Agent chatbot for MS Teams.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663440" y="1188720"/>
            <a:ext cx="402336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298448"/>
            <a:ext cx="64008" cy="3072384"/>
          </a:xfrm>
          <a:prstGeom prst="rect">
            <a:avLst/>
          </a:prstGeom>
          <a:solidFill>
            <a:srgbClr val="1A9E8F"/>
          </a:solidFill>
          <a:ln w="12700">
            <a:solidFill>
              <a:srgbClr val="1A9E8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92040" y="1280160"/>
            <a:ext cx="3657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A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modernizes HR operations, eliminates manual coordination, and provides a scalable, secure lifecycle tracking solution.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Automated Employee Onboarding &amp; Offboarding System</dc:title>
  <dc:subject>PptxGenJS Presentation</dc:subject>
  <dc:creator>Kandula Uma Maheshwari</dc:creator>
  <cp:lastModifiedBy>Kandula Uma Maheshwari</cp:lastModifiedBy>
  <cp:revision>1</cp:revision>
  <dcterms:created xsi:type="dcterms:W3CDTF">2026-10-18T17:50:35Z</dcterms:created>
  <dcterms:modified xsi:type="dcterms:W3CDTF">2026-10-18T17:50:35Z</dcterms:modified>
</cp:coreProperties>
</file>